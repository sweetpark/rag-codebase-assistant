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rimson Pro"/>
      <p:regular r:id="rId17"/>
    </p:embeddedFont>
    <p:embeddedFont>
      <p:font typeface="Crimson Pro"/>
      <p:regular r:id="rId18"/>
    </p:embeddedFont>
    <p:embeddedFont>
      <p:font typeface="Crimson Pro"/>
      <p:regular r:id="rId19"/>
    </p:embeddedFont>
    <p:embeddedFont>
      <p:font typeface="Crimson Pro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35E5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B3BDB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35E5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717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 시스템 구축 가이드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2070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B3BDB5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검색 증강 생성으로 사내 코드베이스 이해하기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1948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엔지니어와 데이터 과학자를 위한 실무 중심 접근법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8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629" y="511969"/>
            <a:ext cx="5313164" cy="581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RAG(검색 증강 생성)의 이해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51629" y="1373029"/>
            <a:ext cx="7840742" cy="1416248"/>
          </a:xfrm>
          <a:prstGeom prst="roundRect">
            <a:avLst>
              <a:gd name="adj" fmla="val 7748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69" y="1373029"/>
            <a:ext cx="91440" cy="1416248"/>
          </a:xfrm>
          <a:prstGeom prst="roundRect">
            <a:avLst>
              <a:gd name="adj" fmla="val 85525"/>
            </a:avLst>
          </a:prstGeom>
          <a:solidFill>
            <a:srgbClr val="835E54"/>
          </a:solidFill>
          <a:ln/>
        </p:spPr>
      </p:sp>
      <p:sp>
        <p:nvSpPr>
          <p:cNvPr id="6" name="Text 3"/>
          <p:cNvSpPr/>
          <p:nvPr/>
        </p:nvSpPr>
        <p:spPr>
          <a:xfrm>
            <a:off x="929164" y="1581983"/>
            <a:ext cx="232743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기본 개념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29164" y="1984534"/>
            <a:ext cx="7354253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LLM이 외부 지식 저장소(문서, 코드, DB 등)에서 관련 정보를 검색하여 답변 생성에 활용하는 방식입니다.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1629" y="2975372"/>
            <a:ext cx="7840742" cy="1416248"/>
          </a:xfrm>
          <a:prstGeom prst="roundRect">
            <a:avLst>
              <a:gd name="adj" fmla="val 7748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8769" y="2975372"/>
            <a:ext cx="91440" cy="1416248"/>
          </a:xfrm>
          <a:prstGeom prst="roundRect">
            <a:avLst>
              <a:gd name="adj" fmla="val 85525"/>
            </a:avLst>
          </a:prstGeom>
          <a:solidFill>
            <a:srgbClr val="835E54"/>
          </a:solidFill>
          <a:ln/>
        </p:spPr>
      </p:sp>
      <p:sp>
        <p:nvSpPr>
          <p:cNvPr id="10" name="Text 7"/>
          <p:cNvSpPr/>
          <p:nvPr/>
        </p:nvSpPr>
        <p:spPr>
          <a:xfrm>
            <a:off x="929164" y="3184327"/>
            <a:ext cx="232743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핵심 메커니즘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9164" y="3586877"/>
            <a:ext cx="7354253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임베딩(벡터화) 기반 유사도 검색을 통해 관련 정보를 찾고, 이를 프롬프트에 삽입하여 LLM에게 컨텍스트를 제공합니다.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1629" y="4577715"/>
            <a:ext cx="7840742" cy="1844397"/>
          </a:xfrm>
          <a:prstGeom prst="roundRect">
            <a:avLst>
              <a:gd name="adj" fmla="val 594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8769" y="4577715"/>
            <a:ext cx="91440" cy="1844397"/>
          </a:xfrm>
          <a:prstGeom prst="roundRect">
            <a:avLst>
              <a:gd name="adj" fmla="val 85525"/>
            </a:avLst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929164" y="4786670"/>
            <a:ext cx="232743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주요 장점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29164" y="5189220"/>
            <a:ext cx="735425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최신 정보 반영 가능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29164" y="5552242"/>
            <a:ext cx="735425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도메인 특화 지식 활용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29164" y="5915263"/>
            <a:ext cx="735425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환각(hallucination) 현상 감소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51629" y="6608207"/>
            <a:ext cx="7840742" cy="1118354"/>
          </a:xfrm>
          <a:prstGeom prst="roundRect">
            <a:avLst>
              <a:gd name="adj" fmla="val 98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8769" y="6608207"/>
            <a:ext cx="91440" cy="1118354"/>
          </a:xfrm>
          <a:prstGeom prst="roundRect">
            <a:avLst>
              <a:gd name="adj" fmla="val 85525"/>
            </a:avLst>
          </a:prstGeom>
          <a:solidFill>
            <a:srgbClr val="835E54"/>
          </a:solidFill>
          <a:ln/>
        </p:spPr>
      </p:sp>
      <p:sp>
        <p:nvSpPr>
          <p:cNvPr id="20" name="Text 17"/>
          <p:cNvSpPr/>
          <p:nvPr/>
        </p:nvSpPr>
        <p:spPr>
          <a:xfrm>
            <a:off x="929164" y="6817162"/>
            <a:ext cx="232743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주의사항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29164" y="7219712"/>
            <a:ext cx="735425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 갱신/정제가 필수적이며, 답변 생성 시 출처 표기를 통해 신뢰성을 확보해야 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98" y="379333"/>
            <a:ext cx="4479727" cy="4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비-RAG vs RAG 파이프라인 비교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2798" y="1155263"/>
            <a:ext cx="2069544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835E54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기존 방식 (비-RAG)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798" y="1569006"/>
            <a:ext cx="6664166" cy="6664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2798" y="8388310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사용자가 프롬프트 작성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2798" y="8657272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직접 호출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2798" y="8926235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사전 학습 지식에만 의존한 답변 생성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2798" y="9271040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한계: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최신 정보 부재, 특화 지식 부족, 환각 현상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1055" y="1155263"/>
            <a:ext cx="2069544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9907C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 방식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055" y="1569006"/>
            <a:ext cx="6664166" cy="66641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1055" y="8388310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 수집·청크화 → 임베딩 → 인덱스 저장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491055" y="8657272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질문 임베딩 변환 → 벡터DB에서 Top-K 검색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491055" y="8926235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검색된 컨텍스트 + 질문을 LLM 프롬프트에 주입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491055" y="9195197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근거 기반 답변 생성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42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데이터셋 준비 원칙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86670"/>
            <a:ext cx="4196358" cy="2909888"/>
          </a:xfrm>
          <a:prstGeom prst="roundRect">
            <a:avLst>
              <a:gd name="adj" fmla="val 32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211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데이터 품질 우선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1152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양보다 질을 우선시하여 불필요하거나 중복된 데이터, 노이즈를 제거합니다.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86670"/>
            <a:ext cx="4196358" cy="2909888"/>
          </a:xfrm>
          <a:prstGeom prst="roundRect">
            <a:avLst>
              <a:gd name="adj" fmla="val 32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1211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최적 청크 크기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61152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200~500 토큰 범위로 유지 (코드는 함수/클래스 단위, 문서는 문단 단위로 분리)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451396" y="483631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토큰이 너무 많으면 비용 증가 및 정밀도 하락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886670"/>
            <a:ext cx="4196358" cy="2909888"/>
          </a:xfrm>
          <a:prstGeom prst="roundRect">
            <a:avLst>
              <a:gd name="adj" fmla="val 32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1211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임베딩 모델 선택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61152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텍스트 전용 모델만 사용하면 코드 유사도 인식에 한계가 있습니다.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4568" y="447341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코드 친화적 임베딩 모델 선택 또는 청크 헤더에 심볼/언어/경로 정보 포함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05170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참고:</a:t>
            </a:r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임베딩 모델과 생성 LLM은 독립적으로 운영 가능합니다. (같을 필요 없음)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006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070" y="2440662"/>
            <a:ext cx="4001214" cy="500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프로토타입 아키텍처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60070" y="3340894"/>
            <a:ext cx="200060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기술 스택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60070" y="3750945"/>
            <a:ext cx="51696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언어/구조: HTML + JS + Java(Spring) + MyBatis XML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0070" y="4062889"/>
            <a:ext cx="51696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임베딩 모델: text-embedding-3-small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0070" y="4374832"/>
            <a:ext cx="51696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생성 모델: gpt-4o-mini (테스트용)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0070" y="4686776"/>
            <a:ext cx="51696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인덱스: FAISS(벡터), pkl/SQLite(메타데이터)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7909" y="3340894"/>
            <a:ext cx="200060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시스템 흐름도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909" y="3770948"/>
            <a:ext cx="800219" cy="9602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8148" y="3930968"/>
            <a:ext cx="698968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 수집 → 청크화 → 임베딩 저장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909" y="4731187"/>
            <a:ext cx="800219" cy="9602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8148" y="4891207"/>
            <a:ext cx="698968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질문 → 임베딩 변환 → 벡터 검색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909" y="5691426"/>
            <a:ext cx="800219" cy="96023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88148" y="5851446"/>
            <a:ext cx="698968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Top-K 컨텍스트 + 질문 → LLM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909" y="6651665"/>
            <a:ext cx="800219" cy="96023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88148" y="6811685"/>
            <a:ext cx="698968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답변 + 출처 반환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761" y="624126"/>
            <a:ext cx="7361277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테스트 결과: 공지사항 조회 예시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78761" y="1791414"/>
            <a:ext cx="113109" cy="113109"/>
          </a:xfrm>
          <a:prstGeom prst="roundRect">
            <a:avLst>
              <a:gd name="adj" fmla="val 404212"/>
            </a:avLst>
          </a:prstGeom>
          <a:solidFill>
            <a:srgbClr val="835E54"/>
          </a:solidFill>
          <a:ln/>
        </p:spPr>
      </p:sp>
      <p:sp>
        <p:nvSpPr>
          <p:cNvPr id="5" name="Text 2"/>
          <p:cNvSpPr/>
          <p:nvPr/>
        </p:nvSpPr>
        <p:spPr>
          <a:xfrm>
            <a:off x="6618208" y="1671161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비-RAG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618208" y="2160627"/>
            <a:ext cx="721983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보편적인 구조만 제안 (사내 특화 코드 스타일 반영 못함)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18208" y="2658666"/>
            <a:ext cx="721983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범용적 MVC 패턴 설명에 그침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78761" y="3594021"/>
            <a:ext cx="113109" cy="113109"/>
          </a:xfrm>
          <a:prstGeom prst="roundRect">
            <a:avLst>
              <a:gd name="adj" fmla="val 404212"/>
            </a:avLst>
          </a:prstGeom>
          <a:solidFill>
            <a:srgbClr val="835E54"/>
          </a:solidFill>
          <a:ln/>
        </p:spPr>
      </p:sp>
      <p:sp>
        <p:nvSpPr>
          <p:cNvPr id="9" name="Text 6"/>
          <p:cNvSpPr/>
          <p:nvPr/>
        </p:nvSpPr>
        <p:spPr>
          <a:xfrm>
            <a:off x="6618208" y="3473767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RAG(Top-K)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618208" y="3963233"/>
            <a:ext cx="721983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MainController/Service/Mapper 패턴에 맞는 정확한 답변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618208" y="4461272"/>
            <a:ext cx="721983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사내 코딩 스타일 준수, 근거 표기 가능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78761" y="5396627"/>
            <a:ext cx="113109" cy="113109"/>
          </a:xfrm>
          <a:prstGeom prst="roundRect">
            <a:avLst>
              <a:gd name="adj" fmla="val 404212"/>
            </a:avLst>
          </a:prstGeom>
          <a:solidFill>
            <a:srgbClr val="835E54"/>
          </a:solidFill>
          <a:ln/>
        </p:spPr>
      </p:sp>
      <p:sp>
        <p:nvSpPr>
          <p:cNvPr id="13" name="Text 10"/>
          <p:cNvSpPr/>
          <p:nvPr/>
        </p:nvSpPr>
        <p:spPr>
          <a:xfrm>
            <a:off x="6618208" y="5276374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RAG+재랭킹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18208" y="5765840"/>
            <a:ext cx="721983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오히려 성능 저하 발생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618208" y="6263878"/>
            <a:ext cx="721983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 규모가 작고 잘 정제된 경우 Top-K만으로 충분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278761" y="6880860"/>
            <a:ext cx="7559278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결론: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소규모·정제 데이터셋에서는 Top-K 검색만으로도 최적의 결과를 얻을 수 있습니다. 재랭킹은 대규모·이질적 데이터셋에서만 효과적입니다.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00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주요 깨달음 및 교훈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9244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데이터셋 품질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01752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많은 데이터보다 정확한 데이터가 중요합니다. 기능별 타겟 데이터를 수집하고, 자연어 주석을 포함하세요.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39244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임베딩 모델의 중요성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017520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코드를 이해할 수 있는 임베딩 모델일수록 검색 성능이 향상됩니다. 도메인 특화 모델을 고려하세요.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39244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목적별 LLM 라우팅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017520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텍스트용과 코드용 모델을 분리 운영하면 각 도메인에 최적화된 응답을 얻을 수 있습니다.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파인튜닝 활용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547836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사내 용어/스타일 학습을 위해 Q&amp;A 형식의 파인튜닝을 적용하세요. 지식 주입이 아닌 표현 일관성 강화에 집중합니다.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운영 관점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547836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증분 업데이트(파일 해시 기반), 권한 필터 적용, 출처 표기 강제, 평가 지표(R@K, Faithfulness, 지연 p95) 지속 모니터링이 필요합니다.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799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임베딩 파일 구성 및 주요 고민 포인트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6452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B3BDB5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임베딩 파일 구성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51663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벡터 비교: FAISS 파일 (빠른 유사도 검색)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217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메타 관리: pkl 파일 (불필요 데이터 제거)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126831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파일(Controller/Service/SQL)은 반드시 포함 → 답변 일관성 확보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286452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C9907C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3가지 핵심 고민 포인트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0342721" y="351663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Chunk 기준? (함수/클래스/SQL id 단위)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3217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Chunk 데이터 쌓기? (중복 필터링 필요)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1268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메타데이터 타입 정의? (파일종류별 + 심볼/라인 범위 포함)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6056709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권장사항: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Core 코드 위주로 수집하고 예외 케이스는 제외하여 일관성 있는 데이터셋을 구성하세요.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11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자주 묻는 질문(FAQ)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03571"/>
            <a:ext cx="4196358" cy="3037642"/>
          </a:xfrm>
          <a:prstGeom prst="roundRect">
            <a:avLst>
              <a:gd name="adj" fmla="val 313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81" y="1797963"/>
            <a:ext cx="272177" cy="27217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579" y="4774644"/>
            <a:ext cx="272177" cy="2721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4431" y="2274213"/>
            <a:ext cx="34550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Q1. 임베딩 LLM이 꼭 필요한가?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64431" y="3118961"/>
            <a:ext cx="34550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네. 검색 증강은 임베딩 없이는 불가능합니다. 임베딩은 텍스트를 벡터 공간으로 변환하여 유사도 검색을 가능하게 하는 핵심 요소입니다.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1903571"/>
            <a:ext cx="4196358" cy="3037642"/>
          </a:xfrm>
          <a:prstGeom prst="roundRect">
            <a:avLst>
              <a:gd name="adj" fmla="val 313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353" y="1797963"/>
            <a:ext cx="272177" cy="272177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751" y="4774644"/>
            <a:ext cx="272177" cy="2721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87603" y="2274213"/>
            <a:ext cx="34550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Q2. FAISS+pkl만 있으면 OpenAI처럼 쓸 수 있나?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587603" y="3118961"/>
            <a:ext cx="34550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거의 가능합니다. 검색 + 프롬프트 조립 로직만 추가하면 OpenAI와 유사한 검색 증강 기능을 구현할 수 있습니다.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1903571"/>
            <a:ext cx="4196358" cy="3037642"/>
          </a:xfrm>
          <a:prstGeom prst="roundRect">
            <a:avLst>
              <a:gd name="adj" fmla="val 313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25" y="1797963"/>
            <a:ext cx="272177" cy="272177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9923" y="4774644"/>
            <a:ext cx="272177" cy="27217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10775" y="22742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Q3. 재랭킹이 필수인가?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010775" y="2764631"/>
            <a:ext cx="34550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아닙니다. 상황에 따라 선택적으로 적용해야 합니다. 정제된 소규모 데이터셋에서는 오히려 불필요할 수 있습니다.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93790" y="5168027"/>
            <a:ext cx="6407944" cy="2320409"/>
          </a:xfrm>
          <a:prstGeom prst="roundRect">
            <a:avLst>
              <a:gd name="adj" fmla="val 410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81" y="5062418"/>
            <a:ext cx="272177" cy="272177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5165" y="7321867"/>
            <a:ext cx="272177" cy="272177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164431" y="5538668"/>
            <a:ext cx="34166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Q4. 임베딩 모델 CPU vs GPU?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1164431" y="6029087"/>
            <a:ext cx="566666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둘 다 가능합니다. 대량 처리나 저지연이 필요한 경우에는 GPU를 추천합니다.</a:t>
            </a:r>
            <a:endParaRPr lang="en-US" sz="1750" dirty="0"/>
          </a:p>
        </p:txBody>
      </p:sp>
      <p:sp>
        <p:nvSpPr>
          <p:cNvPr id="23" name="Shape 13"/>
          <p:cNvSpPr/>
          <p:nvPr/>
        </p:nvSpPr>
        <p:spPr>
          <a:xfrm>
            <a:off x="7428548" y="5168027"/>
            <a:ext cx="6407944" cy="2320409"/>
          </a:xfrm>
          <a:prstGeom prst="roundRect">
            <a:avLst>
              <a:gd name="adj" fmla="val 410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939" y="5062418"/>
            <a:ext cx="272177" cy="272177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69923" y="7321867"/>
            <a:ext cx="272177" cy="272177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799189" y="5538668"/>
            <a:ext cx="36500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Q5. 벡터DB 업데이트 가능한가?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7799189" y="6029087"/>
            <a:ext cx="566666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전용 벡터DB(Qdrant, Milvus 등)는 upsert를 지원합니다. 반면 FAISS 단독 사용 시에는 삭제/업데이트가 불편하여 재빌드를 권장합니다.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421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858" y="453271"/>
            <a:ext cx="4120991" cy="51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구현 체크리스트 및 결론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76858" y="1215509"/>
            <a:ext cx="7990284" cy="1637705"/>
          </a:xfrm>
          <a:prstGeom prst="roundRect">
            <a:avLst>
              <a:gd name="adj" fmla="val 422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9718" y="1238369"/>
            <a:ext cx="659249" cy="1591985"/>
          </a:xfrm>
          <a:prstGeom prst="roundRect">
            <a:avLst>
              <a:gd name="adj" fmla="val 6341"/>
            </a:avLst>
          </a:prstGeom>
          <a:solidFill>
            <a:srgbClr val="EBE2E0"/>
          </a:solidFill>
          <a:ln/>
        </p:spPr>
      </p:sp>
      <p:sp>
        <p:nvSpPr>
          <p:cNvPr id="6" name="Text 3"/>
          <p:cNvSpPr/>
          <p:nvPr/>
        </p:nvSpPr>
        <p:spPr>
          <a:xfrm>
            <a:off x="801886" y="1879878"/>
            <a:ext cx="247174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23749" y="1403152"/>
            <a:ext cx="2060496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준비 단계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23749" y="1759506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Chunker (코드/문서 분리 규칙 적용)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23749" y="2080736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임베딩 파이프라인 구축 (배치+증분)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423749" y="2401967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FAISS 인덱스 구축 (차원/정규화 일치)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6858" y="3017996"/>
            <a:ext cx="7990284" cy="1637705"/>
          </a:xfrm>
          <a:prstGeom prst="roundRect">
            <a:avLst>
              <a:gd name="adj" fmla="val 422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9718" y="3040856"/>
            <a:ext cx="659249" cy="1591985"/>
          </a:xfrm>
          <a:prstGeom prst="roundRect">
            <a:avLst>
              <a:gd name="adj" fmla="val 6341"/>
            </a:avLst>
          </a:prstGeom>
          <a:solidFill>
            <a:srgbClr val="EBE2E0"/>
          </a:solidFill>
          <a:ln/>
        </p:spPr>
      </p:sp>
      <p:sp>
        <p:nvSpPr>
          <p:cNvPr id="13" name="Text 10"/>
          <p:cNvSpPr/>
          <p:nvPr/>
        </p:nvSpPr>
        <p:spPr>
          <a:xfrm>
            <a:off x="801886" y="3682365"/>
            <a:ext cx="247174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423749" y="3205639"/>
            <a:ext cx="2060496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검색 시스템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23749" y="3561993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메타스토어 스키마 정의 (pkl/SQLite)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3749" y="3883223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검색 API 구현 (Top-K, 권한 필터, 옵션: 재랭킹)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423749" y="4204454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프롬프트 템플릿 설계 (근거 표기/금지 조항 포함)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76858" y="4820483"/>
            <a:ext cx="7990284" cy="1637705"/>
          </a:xfrm>
          <a:prstGeom prst="roundRect">
            <a:avLst>
              <a:gd name="adj" fmla="val 422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9718" y="4843343"/>
            <a:ext cx="659249" cy="1591985"/>
          </a:xfrm>
          <a:prstGeom prst="roundRect">
            <a:avLst>
              <a:gd name="adj" fmla="val 6341"/>
            </a:avLst>
          </a:prstGeom>
          <a:solidFill>
            <a:srgbClr val="EBE2E0"/>
          </a:solidFill>
          <a:ln/>
        </p:spPr>
      </p:sp>
      <p:sp>
        <p:nvSpPr>
          <p:cNvPr id="20" name="Text 17"/>
          <p:cNvSpPr/>
          <p:nvPr/>
        </p:nvSpPr>
        <p:spPr>
          <a:xfrm>
            <a:off x="801886" y="5484852"/>
            <a:ext cx="247174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423749" y="5008126"/>
            <a:ext cx="2060496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운영 및 평가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23749" y="5364480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모델 서빙 (Mistral-7B or gpt-4o-mini)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423749" y="5685711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OpenAI 호환 엔드포인트 래퍼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423749" y="6006941"/>
            <a:ext cx="712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모니터링/로그/평가 스크립트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76858" y="6705362"/>
            <a:ext cx="2472571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835E54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결론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576858" y="7261622"/>
            <a:ext cx="7990284" cy="527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RAG는 사내 코드베이스 활용에 강력한 도구입니다. 핵심 운영 원칙은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"양보다 질"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"증분 업데이트"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"출처 표기"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"권한 필터"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입니다. 작은 규모에서도 효과적인 RAG 시스템을 구축하여 개발 생산성을 높이세요.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2025-08-18T13:59:54Z</dcterms:created>
  <dcterms:modified xsi:type="dcterms:W3CDTF">2025-08-18T13:59:54Z</dcterms:modified>
</cp:coreProperties>
</file>